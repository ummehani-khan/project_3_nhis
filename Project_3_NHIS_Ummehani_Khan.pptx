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5" r:id="rId5"/>
    <p:sldId id="262" r:id="rId6"/>
    <p:sldId id="263" r:id="rId7"/>
    <p:sldId id="264" r:id="rId8"/>
    <p:sldId id="266" r:id="rId9"/>
    <p:sldId id="273" r:id="rId10"/>
    <p:sldId id="270" r:id="rId11"/>
    <p:sldId id="271" r:id="rId12"/>
    <p:sldId id="272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6A3F5-326C-8032-8EE8-198F9EB72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A48E9B-812C-5D64-8B5F-30CC83CA6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E2B12-9A78-4B4B-EC73-DFB855C8D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CCF7-05E2-4C2B-8303-AC88D551C01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B178-1963-6D37-3B38-11C5436F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F7D1-62FC-AAC1-B079-C27FAB55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2D48D-9FE7-486F-AF25-F628EF94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90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27A8-6963-DC94-89A1-B5B40316C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D93A9-D7A5-1837-DC0A-73E012252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1F540-6A4F-B90C-A6F3-A30EAD604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CCF7-05E2-4C2B-8303-AC88D551C01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2458B-EDE9-D5CC-7FE2-6738A810F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A1582-9BA1-1E34-F7C7-44662396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2D48D-9FE7-486F-AF25-F628EF94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04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25956-F000-D7D5-3D24-897E6B931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7BBF4-1199-2BAD-47DE-E41FA21D7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F86-ED3D-4397-302A-A07D1B5BD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CCF7-05E2-4C2B-8303-AC88D551C01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5CBF5-585E-DE38-B97C-BFB0A8907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1A9F1-D2CE-1517-CB69-50D63ED8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2D48D-9FE7-486F-AF25-F628EF94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150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E168-3A76-5B87-B5FE-65D14E7C7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051DF-DC58-365F-5FF6-4FBC530F7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C579F-2527-CBC8-8018-04B27B6D5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614D6-B9BE-CE39-8E14-9CC9B735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CCF7-05E2-4C2B-8303-AC88D551C01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24495-F4E0-A497-3C04-4CD69FFD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F7EC1-0895-592A-496A-E4A860F0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2D48D-9FE7-486F-AF25-F628EF94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70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68759-45BC-5418-F66E-9B599941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8A7C0-0AB1-4312-9612-24406826C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CEA74-1EA6-7918-6F88-96E2219D9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5A9EA-CA60-79B6-B08A-CB633203E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246A4-72BC-AC2B-1395-9F512658D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38BD05-2A39-A467-F8D4-57EE7D53B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CCF7-05E2-4C2B-8303-AC88D551C01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0F8BE9-0908-2ECE-74E1-359189669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A51FF-1E88-1110-EAF5-CCDBB7322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2D48D-9FE7-486F-AF25-F628EF94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852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CE92-158C-FC16-709B-8491310E1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E683E-7D9C-7821-6A94-F7AA3C9E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CCF7-05E2-4C2B-8303-AC88D551C01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55B04-6962-0A28-7C86-38C48DD4D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C68A8-0085-6D49-D5BF-E58484B1D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2D48D-9FE7-486F-AF25-F628EF94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430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63E99-6D7D-E28C-419C-681CA797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CCF7-05E2-4C2B-8303-AC88D551C01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F49A54-B32E-6885-D298-2DA6DCE32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A7B87-C85D-42C4-C65E-D9F5895E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2D48D-9FE7-486F-AF25-F628EF94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957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E1109-31D7-5A12-D692-211D771B8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D345B-0909-C856-DA8E-4C576A509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F80C1-4CE9-EA2F-A598-979751E21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1BE89-5431-FFB2-6275-00C6EB85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CCF7-05E2-4C2B-8303-AC88D551C01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CC43A-FA6E-A792-2185-383187FEA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70804-6C03-68AA-6F26-AFEE4D50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2D48D-9FE7-486F-AF25-F628EF94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78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65A0-281D-E8F8-21BA-9B4A4DE59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780BC-F967-0F4D-A047-E3CA6E8FB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62A10-5543-168C-D170-2D49581FE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342C7-DB6B-758C-B2C6-94CB10507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CCF7-05E2-4C2B-8303-AC88D551C01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9E1B4-A50B-EB44-68FE-F4EA6F82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0C964-E562-D437-159D-EA77331F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2D48D-9FE7-486F-AF25-F628EF94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51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A1591-78F2-77FF-0C39-238DBE9E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EB6AF-6B1D-B5AB-E7F1-FC9E4AF27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EE240-F4E7-954D-2462-8D1C3BC0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CCF7-05E2-4C2B-8303-AC88D551C01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742CE-3D4D-452E-3C68-306D7BEF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FBA4-5833-2ED2-214A-20156DFC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2D48D-9FE7-486F-AF25-F628EF94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896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41343B-EAA1-6538-FA70-1BC186A6B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B8C34-161F-FBBF-85AB-CAB804698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AB3E2-D30F-1FCB-7749-C7D0ABB6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CCF7-05E2-4C2B-8303-AC88D551C01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19CDA-9482-E8DE-0EF2-61503B620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6B54A-AD91-2072-6F8B-91A9A5108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2D48D-9FE7-486F-AF25-F628EF94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742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626F0-5386-97D9-37B3-499B07671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26F60-6E74-93AC-1E7B-32B0C965B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0067E-0FF7-B4BF-6C6F-D27CB7763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FCCF7-05E2-4C2B-8303-AC88D551C01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5B473-0391-1C12-23BB-BEE6B0B04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04445-5B47-715C-F94E-F949378AF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2D48D-9FE7-486F-AF25-F628EF94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200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3169-77D0-F64D-085C-19EA25DFF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8348"/>
            <a:ext cx="9144000" cy="1508694"/>
          </a:xfrm>
        </p:spPr>
        <p:txBody>
          <a:bodyPr/>
          <a:lstStyle/>
          <a:p>
            <a:r>
              <a:rPr lang="en-IN" sz="6000" dirty="0" err="1"/>
              <a:t>NextHikes</a:t>
            </a:r>
            <a:r>
              <a:rPr lang="en-IN" sz="6000" dirty="0"/>
              <a:t> IT Solutions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011A94-452A-5888-D24B-13808026C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0384"/>
            <a:ext cx="9144000" cy="2238045"/>
          </a:xfrm>
        </p:spPr>
        <p:txBody>
          <a:bodyPr>
            <a:normAutofit lnSpcReduction="10000"/>
          </a:bodyPr>
          <a:lstStyle/>
          <a:p>
            <a:pPr>
              <a:spcAft>
                <a:spcPts val="1000"/>
              </a:spcAft>
            </a:pPr>
            <a:r>
              <a:rPr lang="en-US" dirty="0"/>
              <a:t>Exploratory Data Analysis of Large-Scale Retail Transaction Data</a:t>
            </a:r>
          </a:p>
          <a:p>
            <a:pPr>
              <a:spcAft>
                <a:spcPts val="1000"/>
              </a:spcAft>
            </a:pPr>
            <a:r>
              <a:rPr lang="en-US" dirty="0"/>
              <a:t> Using Univariate, Bivariate, and Multivariate Statistical Techniques</a:t>
            </a:r>
          </a:p>
          <a:p>
            <a:pPr>
              <a:spcAft>
                <a:spcPts val="1000"/>
              </a:spcAft>
            </a:pPr>
            <a:r>
              <a:rPr lang="en-US" dirty="0"/>
              <a:t>By</a:t>
            </a:r>
          </a:p>
          <a:p>
            <a:pPr>
              <a:spcAft>
                <a:spcPts val="1000"/>
              </a:spcAft>
            </a:pPr>
            <a:r>
              <a:rPr lang="en-US" dirty="0"/>
              <a:t>Ummehani Khan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1DE68-1190-3130-0531-BA57BC35D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729" y="5943600"/>
            <a:ext cx="1211271" cy="974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08212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B290A-DD26-825C-9C91-70EF88F14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34890-D7F5-22FF-1CFE-8977BC8F6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+mj-lt"/>
              <a:buAutoNum type="arabicPeriod"/>
            </a:pPr>
            <a:r>
              <a:rPr lang="en-IN" sz="2400" dirty="0"/>
              <a:t>Univariate Analysis</a:t>
            </a:r>
          </a:p>
          <a:p>
            <a:pPr algn="just">
              <a:buFont typeface="+mj-lt"/>
              <a:buAutoNum type="arabicPeriod"/>
            </a:pPr>
            <a:r>
              <a:rPr lang="en-IN" sz="2400" dirty="0"/>
              <a:t>Outlier Detection</a:t>
            </a:r>
          </a:p>
          <a:p>
            <a:pPr algn="just">
              <a:buFont typeface="+mj-lt"/>
              <a:buAutoNum type="arabicPeriod"/>
            </a:pPr>
            <a:r>
              <a:rPr lang="en-IN" sz="2400" dirty="0"/>
              <a:t>Bivariate Analysis</a:t>
            </a:r>
          </a:p>
          <a:p>
            <a:pPr algn="just">
              <a:buFont typeface="+mj-lt"/>
              <a:buAutoNum type="arabicPeriod"/>
            </a:pPr>
            <a:r>
              <a:rPr lang="en-IN" sz="2400" dirty="0"/>
              <a:t>Correlation Drivers</a:t>
            </a:r>
          </a:p>
          <a:p>
            <a:pPr algn="just">
              <a:buFont typeface="+mj-lt"/>
              <a:buAutoNum type="arabicPeriod"/>
            </a:pPr>
            <a:r>
              <a:rPr lang="en-IN" sz="2400" dirty="0"/>
              <a:t>Multivariate Interaction</a:t>
            </a:r>
          </a:p>
          <a:p>
            <a:pPr algn="just">
              <a:buFont typeface="+mj-lt"/>
              <a:buAutoNum type="arabicPeriod"/>
            </a:pPr>
            <a:r>
              <a:rPr lang="en-IN" sz="2400" dirty="0"/>
              <a:t>Skewness &amp; Kurtosis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9F4DF5-F93F-235A-6501-C18852F68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729" y="5943600"/>
            <a:ext cx="1211271" cy="974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13685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1ABD0F-808A-AA65-146D-C1D304C92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710" y="844632"/>
            <a:ext cx="10074033" cy="534126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08D8CE2-2B93-9B0F-386F-CBBA7C161F0A}"/>
              </a:ext>
            </a:extLst>
          </p:cNvPr>
          <p:cNvSpPr txBox="1">
            <a:spLocks/>
          </p:cNvSpPr>
          <p:nvPr/>
        </p:nvSpPr>
        <p:spPr>
          <a:xfrm>
            <a:off x="1360097" y="138717"/>
            <a:ext cx="9471805" cy="128464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/>
              <a:t>Univariate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C868A0-5D34-842F-F3EC-9D890FCDC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37" y="6081623"/>
            <a:ext cx="1039763" cy="8367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6198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B52F-D273-F679-5945-7D1159923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9895"/>
            <a:ext cx="10515600" cy="4952012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/>
              <a:t>Business Insights: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Customers span ages 20–60 → broad demographic, no single dominant group.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Most products priced below ₹60,000 → mid‑range catalog dominates.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Orders usually 1–4 units → small basket size.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Discounts mostly low, with spikes at 30% → campaigns drive surges.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Final price skewed → majority low‑value, few premium orders.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Delivery cycles 1–10 days → predictable but improvable.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Implication: </a:t>
            </a:r>
            <a:r>
              <a:rPr lang="en-US" sz="1800" dirty="0"/>
              <a:t>Marketing should remain broad, but bundles and premium expansion could grow revenue.</a:t>
            </a:r>
          </a:p>
          <a:p>
            <a:pPr algn="just"/>
            <a:endParaRPr lang="en-IN" sz="1800" dirty="0"/>
          </a:p>
          <a:p>
            <a:pPr algn="just"/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AA0E9-7E09-1428-6148-046D4C800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729" y="5943600"/>
            <a:ext cx="1211271" cy="974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72767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5F19-ACFC-3737-5EA9-AA3BF5375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E677AE-A6C5-B0C6-606C-EE81BFA5F2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1639" y="1690688"/>
            <a:ext cx="10892161" cy="310007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/>
            <a:r>
              <a:rPr lang="en-US" altLang="en-US" sz="2000" dirty="0"/>
              <a:t>Balanced Customer Base: Gender, segment, and geography are evenly spread → business is not over‑reliant on one group. </a:t>
            </a:r>
          </a:p>
          <a:p>
            <a:pPr lvl="0" algn="just"/>
            <a:r>
              <a:rPr lang="en-US" altLang="en-US" sz="2000" dirty="0"/>
              <a:t>Category Strength: Health &amp; beauty products stand out → opportunity to double down on wellness trends. </a:t>
            </a:r>
          </a:p>
          <a:p>
            <a:pPr lvl="0" algn="just"/>
            <a:r>
              <a:rPr lang="en-US" altLang="en-US" sz="2000" dirty="0"/>
              <a:t>Operational Flexibility: Payment and shipping preferences are diverse → continue offering multiple options. </a:t>
            </a:r>
          </a:p>
          <a:p>
            <a:pPr lvl="0" algn="just"/>
            <a:r>
              <a:rPr lang="en-US" altLang="en-US" sz="2000" dirty="0"/>
              <a:t>Retention Opportunity: 15% returns need investigation → improving delivery speed or product quality could reduce this. </a:t>
            </a:r>
          </a:p>
          <a:p>
            <a:pPr lvl="0" algn="just"/>
            <a:endParaRPr lang="en-US" alt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B8B8B8-DD4E-E0A9-9A8E-07A53E0C3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729" y="5943600"/>
            <a:ext cx="1211271" cy="974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49413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DE95-F9A1-70FA-B152-00941B07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0" i="0" dirty="0">
                <a:effectLst/>
              </a:rPr>
              <a:t>Outlier Detection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296F1-2319-AD5F-E4FA-FC01506B2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257" y="1781983"/>
            <a:ext cx="8071486" cy="42823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429F81-5724-DF54-601B-D1D5F8690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729" y="5943600"/>
            <a:ext cx="1211271" cy="974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3613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45659-96B0-7D16-9FB0-41B8265F3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683" y="629728"/>
            <a:ext cx="10515600" cy="5133167"/>
          </a:xfrm>
        </p:spPr>
        <p:txBody>
          <a:bodyPr>
            <a:normAutofit/>
          </a:bodyPr>
          <a:lstStyle/>
          <a:p>
            <a:pPr algn="just"/>
            <a:r>
              <a:rPr lang="en-US" sz="1800" b="0" i="0" dirty="0">
                <a:effectLst/>
                <a:latin typeface="Aptos (Body)"/>
              </a:rPr>
              <a:t>age has no detected outliers → No action needed. – </a:t>
            </a:r>
          </a:p>
          <a:p>
            <a:pPr algn="just"/>
            <a:r>
              <a:rPr lang="en-US" sz="1800" b="0" i="0" dirty="0" err="1">
                <a:effectLst/>
                <a:latin typeface="Aptos (Body)"/>
              </a:rPr>
              <a:t>product_price</a:t>
            </a:r>
            <a:r>
              <a:rPr lang="en-US" sz="1800" b="0" i="0" dirty="0">
                <a:effectLst/>
                <a:latin typeface="Aptos (Body)"/>
              </a:rPr>
              <a:t> has no detected outliers → No action needed. – </a:t>
            </a:r>
          </a:p>
          <a:p>
            <a:pPr algn="just"/>
            <a:r>
              <a:rPr lang="en-US" sz="1800" b="0" i="0" dirty="0">
                <a:effectLst/>
                <a:latin typeface="Aptos (Body)"/>
              </a:rPr>
              <a:t>quantity has no detected outliers → No action needed. </a:t>
            </a:r>
            <a:endParaRPr lang="en-US" sz="1800" dirty="0">
              <a:latin typeface="Aptos (Body)"/>
            </a:endParaRPr>
          </a:p>
          <a:p>
            <a:pPr algn="just"/>
            <a:r>
              <a:rPr lang="en-US" sz="1800" b="0" i="0" dirty="0" err="1">
                <a:effectLst/>
                <a:latin typeface="Aptos (Body)"/>
              </a:rPr>
              <a:t>discount_percentage</a:t>
            </a:r>
            <a:r>
              <a:rPr lang="en-US" sz="1800" b="0" i="0" dirty="0">
                <a:effectLst/>
                <a:latin typeface="Aptos (Body)"/>
              </a:rPr>
              <a:t> has no detected outliers → No action needed. – </a:t>
            </a:r>
          </a:p>
          <a:p>
            <a:pPr algn="just"/>
            <a:r>
              <a:rPr lang="en-US" sz="1800" b="0" i="0" dirty="0" err="1">
                <a:effectLst/>
                <a:latin typeface="Aptos (Body)"/>
              </a:rPr>
              <a:t>final_price</a:t>
            </a:r>
            <a:r>
              <a:rPr lang="en-US" sz="1800" b="0" i="0" dirty="0">
                <a:effectLst/>
                <a:latin typeface="Aptos (Body)"/>
              </a:rPr>
              <a:t> has 1.33% outliers → Monitor but may not require immediate action unless business-critical. – </a:t>
            </a:r>
          </a:p>
          <a:p>
            <a:pPr algn="just"/>
            <a:r>
              <a:rPr lang="en-US" sz="1800" b="0" i="0" dirty="0" err="1">
                <a:effectLst/>
                <a:latin typeface="Aptos (Body)"/>
              </a:rPr>
              <a:t>delivery_days</a:t>
            </a:r>
            <a:r>
              <a:rPr lang="en-US" sz="1800" b="0" i="0" dirty="0">
                <a:effectLst/>
                <a:latin typeface="Aptos (Body)"/>
              </a:rPr>
              <a:t> has no detected outliers → No action needed.</a:t>
            </a:r>
            <a:endParaRPr lang="en-IN" sz="1800" dirty="0">
              <a:latin typeface="Aptos (Body)"/>
            </a:endParaRPr>
          </a:p>
          <a:p>
            <a:endParaRPr lang="en-IN" sz="1800" dirty="0">
              <a:latin typeface="Aptos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A7ACB-4510-B760-F832-6F17677EE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729" y="5943600"/>
            <a:ext cx="1211271" cy="974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96631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5C29-F8E8-EB48-D26D-95361DC73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0" dirty="0">
                <a:effectLst/>
              </a:rPr>
              <a:t>Bivariate Analysis</a:t>
            </a:r>
            <a:br>
              <a:rPr lang="en-IN" b="0" dirty="0">
                <a:solidFill>
                  <a:srgbClr val="CCCCCC"/>
                </a:solidFill>
                <a:effectLst/>
              </a:rPr>
            </a:b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094594-13D9-41AB-A385-A040920CD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115" y="1178868"/>
            <a:ext cx="7247769" cy="54175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0B31C3-380C-0FB9-E0F9-02A5D87D8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729" y="5943600"/>
            <a:ext cx="1211271" cy="974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86709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66CC2-BA24-D06E-A56B-E2C2D9047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5055"/>
            <a:ext cx="10515600" cy="539150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dirty="0"/>
              <a:t>1. Correlation Heatmap (Top‑Left)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Final price is strongly correlated with product price (0.73) and quantity (0.58) → these are the main revenue drivers.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Discount percentage shows a weak negative correlation with final price → discounts reduce per‑unit margins.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Age and delivery days have negligible correlation with spending → operational factors don’t directly drive revenue.</a:t>
            </a:r>
          </a:p>
          <a:p>
            <a:pPr algn="just"/>
            <a:r>
              <a:rPr lang="en-US" sz="1600" dirty="0"/>
              <a:t>Implication: Pricing and quantity are the levers for revenue growth, while discounts must be managed carefully.</a:t>
            </a:r>
          </a:p>
          <a:p>
            <a:pPr marL="0" indent="0" algn="just">
              <a:buNone/>
            </a:pPr>
            <a:r>
              <a:rPr lang="en-US" sz="1600" dirty="0"/>
              <a:t>2. Avg Final Price by Segment (Top‑Right)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All customer segments (New, Premium, Regular) show similar average final prices (~60K).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No segment dominates in terms of average transaction value.</a:t>
            </a:r>
          </a:p>
          <a:p>
            <a:pPr algn="just"/>
            <a:r>
              <a:rPr lang="en-US" sz="1600" dirty="0"/>
              <a:t>Implication: Segmentation strategies should focus on frequency and loyalty, not just transaction size.</a:t>
            </a:r>
          </a:p>
          <a:p>
            <a:pPr marL="0" indent="0" algn="just">
              <a:buNone/>
            </a:pPr>
            <a:r>
              <a:rPr lang="en-US" sz="1600" dirty="0"/>
              <a:t>3. Return Rate by Product Category (Bottom‑Left)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Return rates are consistent (~14%) across categories, with only minor variation.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No single category stands out as a return risk.</a:t>
            </a:r>
          </a:p>
          <a:p>
            <a:pPr algn="just"/>
            <a:r>
              <a:rPr lang="en-US" sz="1600" dirty="0"/>
              <a:t>Implication: Returns are a system‑wide issue, not category‑specific. Improvements should target logistics and customer expectations.</a:t>
            </a:r>
          </a:p>
          <a:p>
            <a:pPr marL="0" indent="0" algn="just">
              <a:buNone/>
            </a:pPr>
            <a:r>
              <a:rPr lang="en-US" sz="1600" dirty="0"/>
              <a:t>4. Avg Delivery Days by Shipping Type (Bottom‑Right)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Express and Standard shipping both average ~5 days.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No major operational difference in delivery speed</a:t>
            </a:r>
          </a:p>
          <a:p>
            <a:pPr algn="just"/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DFC1E-7359-097A-DE3F-684AD1A7C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729" y="5883215"/>
            <a:ext cx="1211271" cy="974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45099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0CCE6-1214-8E57-1A55-F8FB3EB08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375D4-9BE8-C624-B675-9DB5D5F2E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62367"/>
          </a:xfrm>
        </p:spPr>
        <p:txBody>
          <a:bodyPr>
            <a:normAutofit/>
          </a:bodyPr>
          <a:lstStyle/>
          <a:p>
            <a:r>
              <a:rPr lang="en-US" sz="1800" b="0" i="0" dirty="0">
                <a:effectLst/>
                <a:latin typeface="Aptos (Body)"/>
              </a:rPr>
              <a:t>Sales peaked in 2024-01 with total final price 200,764,028. </a:t>
            </a:r>
          </a:p>
          <a:p>
            <a:r>
              <a:rPr lang="en-US" sz="1800" b="0" i="0" dirty="0">
                <a:effectLst/>
                <a:latin typeface="Aptos (Body)"/>
              </a:rPr>
              <a:t>- Customers in age group (25, 35] spend the most on average. - Male customers have higher average spending compared to other genders. - Orders with Standard shipping type show the highest average final price. </a:t>
            </a:r>
          </a:p>
          <a:p>
            <a:r>
              <a:rPr lang="en-US" sz="1800" b="0" i="0" dirty="0">
                <a:effectLst/>
                <a:latin typeface="Aptos (Body)"/>
              </a:rPr>
              <a:t>- Delivery days show a weak correlation (0.00) with final price, indicating little impact. </a:t>
            </a:r>
          </a:p>
          <a:p>
            <a:r>
              <a:rPr lang="en-US" sz="1800" b="0" i="0" dirty="0">
                <a:effectLst/>
                <a:latin typeface="Aptos (Body)"/>
              </a:rPr>
              <a:t>- Customers using Debit Card tend to spend more. </a:t>
            </a:r>
          </a:p>
          <a:p>
            <a:r>
              <a:rPr lang="en-US" sz="1800" b="0" i="0" dirty="0">
                <a:effectLst/>
                <a:latin typeface="Aptos (Body)"/>
              </a:rPr>
              <a:t>- Returned orders have an average final price of 64,410, which may indicate higher-value returns. </a:t>
            </a:r>
          </a:p>
          <a:p>
            <a:r>
              <a:rPr lang="en-US" sz="1800" b="0" i="0" dirty="0">
                <a:effectLst/>
                <a:latin typeface="Aptos (Body)"/>
              </a:rPr>
              <a:t>- Discount percentage correlates -0.00 with quantity, suggesting discounts drive bulk purchases. </a:t>
            </a:r>
          </a:p>
          <a:p>
            <a:r>
              <a:rPr lang="en-US" sz="1800" b="0" i="0" dirty="0">
                <a:effectLst/>
                <a:latin typeface="Aptos (Body)"/>
              </a:rPr>
              <a:t>- Product category 'Home &amp; Kitchen' has the highest average final price.</a:t>
            </a:r>
            <a:endParaRPr lang="en-IN" sz="1800" dirty="0">
              <a:latin typeface="Aptos (Body)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178D5-A070-EBCB-9D36-BA925EDC1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729" y="5943600"/>
            <a:ext cx="1211271" cy="974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03941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A9F65-8BD1-5845-46FF-9939D3F5D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Multivariate Analysis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7CD516-D139-A2EC-4A95-0102592A3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67" y="2117692"/>
            <a:ext cx="11854666" cy="3489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5FF156-1DAE-9BDD-2A10-467229B1A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729" y="5943600"/>
            <a:ext cx="1211271" cy="974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71882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C2ED4F2-3254-D6A1-3529-E69E9E4FC9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467978"/>
            <a:ext cx="10643558" cy="5777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US" sz="1800" b="1" dirty="0"/>
              <a:t>1. Revenue by Category &amp; Discount (Left Chart)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Across all categories, lower discounts yield higher revenue.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Electronics and Health categories stand out as strong revenue generators even at moderate discounts.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High discounts reduce revenue contribution, showing margin erosion despite volume gains.</a:t>
            </a:r>
          </a:p>
          <a:p>
            <a:pPr algn="just"/>
            <a:r>
              <a:rPr lang="en-US" sz="1800" dirty="0"/>
              <a:t>Implication: Discounts should be used strategically — moderate levels maximize revenue without sacrificing profitability.</a:t>
            </a:r>
          </a:p>
          <a:p>
            <a:pPr marL="0" indent="0" algn="just">
              <a:buNone/>
            </a:pPr>
            <a:r>
              <a:rPr lang="en-US" sz="1800" b="1" dirty="0"/>
              <a:t>2. Spending by Segment &amp; Age (Middle Chart)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Premium customers aged 30–45 and 45–60 are the highest spenders.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New and Regular customers spend less, especially in the younger 20–30 age group.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Age is a stronger differentiator than segment alone.</a:t>
            </a:r>
          </a:p>
          <a:p>
            <a:pPr algn="just"/>
            <a:r>
              <a:rPr lang="en-US" sz="1800" dirty="0"/>
              <a:t>Implication: Marketing should prioritize premium mid‑age customers, while nurturing younger segments for long‑term growth.</a:t>
            </a:r>
          </a:p>
          <a:p>
            <a:pPr marL="0" indent="0" algn="just">
              <a:buNone/>
            </a:pPr>
            <a:r>
              <a:rPr lang="en-US" sz="1800" b="1" dirty="0"/>
              <a:t>3. Returns by Delivery Days (Right Chart)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Majority of orders are not returned, showing strong product satisfaction.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Return counts remain steady across delivery days, but longer delivery cycles still pose risk.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Standard shipping is more vulnerable to returns compared to express.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507075-8F5A-7387-684D-69DCDB90A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729" y="5943600"/>
            <a:ext cx="1211271" cy="974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06058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89F10FC-FAB7-8E86-BA03-57920AA90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0892" y="303974"/>
            <a:ext cx="6334936" cy="426798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BDAB07-8A24-B8BF-9DE1-8B7973894624}"/>
              </a:ext>
            </a:extLst>
          </p:cNvPr>
          <p:cNvSpPr txBox="1"/>
          <p:nvPr/>
        </p:nvSpPr>
        <p:spPr>
          <a:xfrm>
            <a:off x="282874" y="4939446"/>
            <a:ext cx="116262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Distribution analysis shows that most variables are fairly symmetric and flat, but revenue‑related fields (</a:t>
            </a:r>
            <a:r>
              <a:rPr lang="en-US" dirty="0" err="1"/>
              <a:t>final_price</a:t>
            </a:r>
            <a:r>
              <a:rPr lang="en-US" dirty="0"/>
              <a:t>, discount interactions) exhibit positive skewness, highlighting bulk purchases and high‑value discounts as outliers. </a:t>
            </a:r>
            <a:r>
              <a:rPr lang="en-US" dirty="0" err="1"/>
              <a:t>Final_price</a:t>
            </a:r>
            <a:r>
              <a:rPr lang="en-US" dirty="0"/>
              <a:t> also shows mild kurtosis, confirming occasional extreme transactions. Discount percentage is uniformly spread, while </a:t>
            </a:r>
            <a:r>
              <a:rPr lang="en-US" dirty="0" err="1"/>
              <a:t>return_status</a:t>
            </a:r>
            <a:r>
              <a:rPr lang="en-US" dirty="0"/>
              <a:t> is highly skewed, reflecting that most orders are not returned. Log transformation of </a:t>
            </a:r>
            <a:r>
              <a:rPr lang="en-US" dirty="0" err="1"/>
              <a:t>final_price</a:t>
            </a:r>
            <a:r>
              <a:rPr lang="en-US" dirty="0"/>
              <a:t> improves normality, making it more suitable for predictive modeling.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E6213C-633B-41BA-EDD4-6007D5E8A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075" y="6062178"/>
            <a:ext cx="1063925" cy="8562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03085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hank You Message For Card Presentation Business Expressing Gratitude  Acknowledgment And Appreciation Minimalist Abstract Design With White Cut  Out Paper On Blue Background Stock Photo - Download Image Now - iStock">
            <a:extLst>
              <a:ext uri="{FF2B5EF4-FFF2-40B4-BE49-F238E27FC236}">
                <a16:creationId xmlns:a16="http://schemas.microsoft.com/office/drawing/2014/main" id="{37FDD411-DE68-9E0F-4071-9D0112EA7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337" y="1516543"/>
            <a:ext cx="5267325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E39743-AEF4-66CC-3294-20EFBE4D0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729" y="5943600"/>
            <a:ext cx="1211271" cy="974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5585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925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(Body)</vt:lpstr>
      <vt:lpstr>Aptos Display</vt:lpstr>
      <vt:lpstr>Arial</vt:lpstr>
      <vt:lpstr>Office Theme</vt:lpstr>
      <vt:lpstr>NextHikes IT Solutions</vt:lpstr>
      <vt:lpstr>Project Overview</vt:lpstr>
      <vt:lpstr>PowerPoint Presentation</vt:lpstr>
      <vt:lpstr>PowerPoint Presentation</vt:lpstr>
      <vt:lpstr>Summary</vt:lpstr>
      <vt:lpstr>Outlier Detection</vt:lpstr>
      <vt:lpstr>PowerPoint Presentation</vt:lpstr>
      <vt:lpstr>Bivariate Analysis </vt:lpstr>
      <vt:lpstr>PowerPoint Presentation</vt:lpstr>
      <vt:lpstr>Summary</vt:lpstr>
      <vt:lpstr>Multivariate Analysis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Ummehani Mohammed Farooque Khan</dc:creator>
  <cp:lastModifiedBy>Ummehani Mohammed Farooque Khan</cp:lastModifiedBy>
  <cp:revision>2</cp:revision>
  <dcterms:created xsi:type="dcterms:W3CDTF">2026-03-25T16:26:42Z</dcterms:created>
  <dcterms:modified xsi:type="dcterms:W3CDTF">2026-03-26T08:01:56Z</dcterms:modified>
</cp:coreProperties>
</file>